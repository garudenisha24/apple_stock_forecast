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23" autoAdjust="0"/>
  </p:normalViewPr>
  <p:slideViewPr>
    <p:cSldViewPr snapToGrid="0">
      <p:cViewPr varScale="1">
        <p:scale>
          <a:sx n="68" d="100"/>
          <a:sy n="68" d="100"/>
        </p:scale>
        <p:origin x="28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13F03-D1B3-4B07-9E4F-430CC9AC9B8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722A8-0801-4F7C-92A7-850081348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2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722A8-0801-4F7C-92A7-8500813481F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54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0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64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37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890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60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926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65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13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600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0797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65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8871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089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811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6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419-E48C-45E6-A0BE-63B76162E69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43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rlthd.blogspot.com/2015/12/apple-to-turn-in-first-negative-year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57CF0E-BBF2-03A5-7DB8-1641D0AFA025}"/>
              </a:ext>
            </a:extLst>
          </p:cNvPr>
          <p:cNvSpPr txBox="1"/>
          <p:nvPr/>
        </p:nvSpPr>
        <p:spPr>
          <a:xfrm>
            <a:off x="1700980" y="1465007"/>
            <a:ext cx="9851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Apple Stock Forecast </a:t>
            </a:r>
          </a:p>
          <a:p>
            <a:pPr algn="r"/>
            <a:r>
              <a:rPr lang="en-GB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IN" sz="4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BC40F-DF37-3406-8F73-26F31BFD7C72}"/>
              </a:ext>
            </a:extLst>
          </p:cNvPr>
          <p:cNvSpPr txBox="1"/>
          <p:nvPr/>
        </p:nvSpPr>
        <p:spPr>
          <a:xfrm>
            <a:off x="6329680" y="5392993"/>
            <a:ext cx="54569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By : Group - 1</a:t>
            </a:r>
          </a:p>
          <a:p>
            <a:pPr algn="r"/>
            <a:endParaRPr lang="en-IN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E332A-ECCD-84BE-12F0-1187158B6142}"/>
              </a:ext>
            </a:extLst>
          </p:cNvPr>
          <p:cNvSpPr txBox="1"/>
          <p:nvPr/>
        </p:nvSpPr>
        <p:spPr>
          <a:xfrm>
            <a:off x="3007360" y="2682240"/>
            <a:ext cx="885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Predicting Apple Stock Price (AAPL) Using Financial, Economic and Sentiment indicators.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25DE38-267D-E091-CD12-A16EC9F63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9096" y="297002"/>
            <a:ext cx="1860263" cy="18873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3E89D4-B09A-EFBA-055A-8438FF960DC5}"/>
              </a:ext>
            </a:extLst>
          </p:cNvPr>
          <p:cNvSpPr txBox="1"/>
          <p:nvPr/>
        </p:nvSpPr>
        <p:spPr>
          <a:xfrm>
            <a:off x="3242023" y="3844498"/>
            <a:ext cx="831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Objective:</a:t>
            </a:r>
            <a:r>
              <a:rPr lang="en-GB" dirty="0"/>
              <a:t> Help investors, traders, and analysts make buy/sell decisions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962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0EF9-EC4A-ABFA-CE41-D6AB29D1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Business Objective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72769-FABB-E650-3FC4-85272C42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Predict Apple’s </a:t>
            </a:r>
            <a:r>
              <a:rPr lang="en-GB" b="1" dirty="0"/>
              <a:t>next 30-day stock price</a:t>
            </a:r>
            <a:r>
              <a:rPr lang="en-GB" dirty="0"/>
              <a:t> using data from financial, economic, and sentiment indicators.</a:t>
            </a:r>
          </a:p>
          <a:p>
            <a:pPr>
              <a:lnSpc>
                <a:spcPct val="150000"/>
              </a:lnSpc>
            </a:pPr>
            <a:r>
              <a:rPr lang="en-GB" dirty="0"/>
              <a:t>Enable investors and traders to: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Monitor stock trends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Identify buy/sell opportunities</a:t>
            </a:r>
          </a:p>
          <a:p>
            <a:pPr marL="0" lvl="1" indent="0">
              <a:lnSpc>
                <a:spcPct val="150000"/>
              </a:lnSpc>
              <a:buNone/>
            </a:pPr>
            <a:endParaRPr lang="en-GB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en-GB" b="1" dirty="0"/>
              <a:t>Scope:</a:t>
            </a:r>
            <a:r>
              <a:rPr lang="en-GB" dirty="0"/>
              <a:t> Daily prediction within trading hours (Mon–Fri, 4 AM–8 PM ET)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33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B87A-B13C-60BD-F405-BEF005EC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hnschrift Light SemiCondensed" panose="020B0502040204020203" pitchFamily="34" charset="0"/>
              </a:rPr>
              <a:t>Dataset Overview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A7916E-4F30-7681-481C-6A1AA1AB1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144277"/>
              </p:ext>
            </p:extLst>
          </p:nvPr>
        </p:nvGraphicFramePr>
        <p:xfrm>
          <a:off x="2743200" y="1554480"/>
          <a:ext cx="8270240" cy="3952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7560">
                  <a:extLst>
                    <a:ext uri="{9D8B030D-6E8A-4147-A177-3AD203B41FA5}">
                      <a16:colId xmlns:a16="http://schemas.microsoft.com/office/drawing/2014/main" val="1309012708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611598424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2752998270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566789542"/>
                    </a:ext>
                  </a:extLst>
                </a:gridCol>
              </a:tblGrid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Variable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Type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Description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Real-World Impact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1569217341"/>
                  </a:ext>
                </a:extLst>
              </a:tr>
              <a:tr h="669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stock_price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Target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Apple’s stock price over time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Measure of Apple’s performance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2582241336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nasdaq_index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NASDAQ Composite Index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Market correlation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1554593260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sp500_index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S&amp;P 500 Index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Macro-market benchmark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3854048643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inflation_rate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% price increase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Impacts costs &amp; demand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2395389137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unemployment_rate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% jobless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Affects consumer spending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2933736760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interest_rate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Federal Funds Rate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Affects borrowing &amp; expansion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240727481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market_sentiment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Score (–1 to +1)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Reflects investor mood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109390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12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6477-8089-2D51-8126-B1E0FE65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8290"/>
          </a:xfrm>
        </p:spPr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 Preparation &amp; Cleaning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635ABD-60DF-813A-FBC0-4DA02436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Removed weekends (Saturday, Sunday)</a:t>
            </a:r>
            <a:r>
              <a:rPr lang="en-GB" dirty="0"/>
              <a:t> – U.S. markets closed.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Time filter:</a:t>
            </a:r>
            <a:r>
              <a:rPr lang="en-GB" dirty="0"/>
              <a:t> 4:00 AM – 8:00 PM ET (pre-market + regular + after-hours).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Handled blanks/missing values: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Forward fill (for time series gaps)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Mean/median imputation (for continuous variables)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Interpolation (for inflation, rates)</a:t>
            </a:r>
            <a:endParaRPr lang="en-GB" dirty="0"/>
          </a:p>
          <a:p>
            <a:pPr marL="0" lvl="1" indent="0">
              <a:lnSpc>
                <a:spcPct val="150000"/>
              </a:lnSpc>
            </a:pPr>
            <a:r>
              <a:rPr lang="en-GB" b="1" dirty="0"/>
              <a:t>    Outlier treatment:</a:t>
            </a:r>
            <a:r>
              <a:rPr lang="en-GB" dirty="0"/>
              <a:t> Using IQR Method</a:t>
            </a:r>
          </a:p>
          <a:p>
            <a:pPr marL="0" lvl="1" indent="0">
              <a:lnSpc>
                <a:spcPct val="150000"/>
              </a:lnSpc>
            </a:pPr>
            <a:endParaRPr lang="en-GB" b="1" dirty="0"/>
          </a:p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130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D75C1-CAD3-834E-D9CB-F4652ACDD9D8}"/>
              </a:ext>
            </a:extLst>
          </p:cNvPr>
          <p:cNvSpPr txBox="1">
            <a:spLocks/>
          </p:cNvSpPr>
          <p:nvPr/>
        </p:nvSpPr>
        <p:spPr>
          <a:xfrm>
            <a:off x="1261377" y="1530029"/>
            <a:ext cx="5193348" cy="321469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Scatter plot: Stock Price vs NASDAQ Index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3C10A-BBD1-4D52-0C1D-6A9DACCD5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770" y="2174240"/>
            <a:ext cx="4744786" cy="363728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1145DA-E8F8-3A9C-DB8E-897B9959F552}"/>
              </a:ext>
            </a:extLst>
          </p:cNvPr>
          <p:cNvSpPr txBox="1">
            <a:spLocks/>
          </p:cNvSpPr>
          <p:nvPr/>
        </p:nvSpPr>
        <p:spPr>
          <a:xfrm>
            <a:off x="6454725" y="1530029"/>
            <a:ext cx="5193348" cy="321469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Scatter plot: Stock Price vs S&amp;P 500 Index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16F84A-7489-78F1-2AAC-12C68CCE5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120" y="2085362"/>
            <a:ext cx="5075009" cy="372615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2749415-4902-4E69-62FA-E047CC57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770" y="493709"/>
            <a:ext cx="8912225" cy="1281112"/>
          </a:xfrm>
        </p:spPr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78477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CCCFEB-471D-1ECB-B541-5082DFD2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496" y="255838"/>
            <a:ext cx="8912225" cy="1281112"/>
          </a:xfrm>
        </p:spPr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Exploratory Data Analysis (EDA)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AD75C5-3059-2BEE-9927-8D32347042F3}"/>
              </a:ext>
            </a:extLst>
          </p:cNvPr>
          <p:cNvSpPr txBox="1">
            <a:spLocks/>
          </p:cNvSpPr>
          <p:nvPr/>
        </p:nvSpPr>
        <p:spPr>
          <a:xfrm>
            <a:off x="1149617" y="1076961"/>
            <a:ext cx="9619984" cy="58928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📈 Correlation heatmap (highlight strong relationships)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41CABE-6E76-4E68-B6E4-69898E95F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69" y="1666241"/>
            <a:ext cx="8107680" cy="3863589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3CA76B8-EDA7-74F0-F77B-894A6D2DBAF8}"/>
              </a:ext>
            </a:extLst>
          </p:cNvPr>
          <p:cNvSpPr txBox="1">
            <a:spLocks/>
          </p:cNvSpPr>
          <p:nvPr/>
        </p:nvSpPr>
        <p:spPr>
          <a:xfrm>
            <a:off x="1373137" y="5659121"/>
            <a:ext cx="9619984" cy="58928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Insights:</a:t>
            </a:r>
            <a:endParaRPr lang="en-GB" dirty="0"/>
          </a:p>
          <a:p>
            <a:r>
              <a:rPr lang="en-GB" dirty="0"/>
              <a:t>Apple’s stock is highly correlated with NASDAQ &amp; S&amp;P 500.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885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C9EF74-6A56-E684-E452-B005CEC68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496" y="255838"/>
            <a:ext cx="8912225" cy="1281112"/>
          </a:xfrm>
        </p:spPr>
        <p:txBody>
          <a:bodyPr/>
          <a:lstStyle/>
          <a:p>
            <a:pPr algn="ctr"/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M</a:t>
            </a:r>
            <a:r>
              <a:rPr lang="en-IN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odel</a:t>
            </a:r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Selection </a:t>
            </a:r>
            <a:b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BA17E9-E36C-2DE9-DA46-5A95AE62765A}"/>
              </a:ext>
            </a:extLst>
          </p:cNvPr>
          <p:cNvSpPr txBox="1">
            <a:spLocks/>
          </p:cNvSpPr>
          <p:nvPr/>
        </p:nvSpPr>
        <p:spPr>
          <a:xfrm>
            <a:off x="1869440" y="1056640"/>
            <a:ext cx="9635172" cy="42611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b="1" dirty="0"/>
              <a:t>Content :</a:t>
            </a:r>
          </a:p>
          <a:p>
            <a:pPr lvl="1">
              <a:lnSpc>
                <a:spcPct val="150000"/>
              </a:lnSpc>
            </a:pPr>
            <a:r>
              <a:rPr lang="en-GB" sz="1800" dirty="0"/>
              <a:t>We explored multiple forecasting approaches:</a:t>
            </a:r>
          </a:p>
          <a:p>
            <a:pPr lvl="2">
              <a:lnSpc>
                <a:spcPct val="150000"/>
              </a:lnSpc>
            </a:pPr>
            <a:r>
              <a:rPr lang="it-IT" sz="1800" dirty="0"/>
              <a:t>ARIMA / SARIMA (statistical time-series models)</a:t>
            </a:r>
          </a:p>
          <a:p>
            <a:pPr lvl="2">
              <a:lnSpc>
                <a:spcPct val="150000"/>
              </a:lnSpc>
            </a:pPr>
            <a:r>
              <a:rPr lang="en-GB" sz="1800" dirty="0"/>
              <a:t>Machine Learning (Random Forest, </a:t>
            </a:r>
            <a:r>
              <a:rPr lang="en-GB" sz="1800" dirty="0" err="1"/>
              <a:t>XGBoost</a:t>
            </a:r>
            <a:r>
              <a:rPr lang="en-GB" sz="18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Deep Learning (LSTM)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Hybrid Models (SARIMA + LSTM)</a:t>
            </a:r>
          </a:p>
          <a:p>
            <a:pPr marL="447675" lvl="2" indent="466725">
              <a:lnSpc>
                <a:spcPct val="150000"/>
              </a:lnSpc>
            </a:pPr>
            <a:r>
              <a:rPr lang="en-IN" sz="1800" b="1" dirty="0"/>
              <a:t>Final selection:</a:t>
            </a:r>
            <a:r>
              <a:rPr lang="en-IN" sz="1800" dirty="0"/>
              <a:t> SARIMA + Hybrid LSTM</a:t>
            </a:r>
          </a:p>
          <a:p>
            <a:pPr marL="904875" lvl="3" indent="466725">
              <a:lnSpc>
                <a:spcPct val="150000"/>
              </a:lnSpc>
            </a:pPr>
            <a:r>
              <a:rPr lang="en-GB" sz="1800" dirty="0"/>
              <a:t>SARIMA stands for </a:t>
            </a:r>
            <a:r>
              <a:rPr lang="en-GB" sz="1800" b="1" dirty="0"/>
              <a:t>Seasonal </a:t>
            </a:r>
            <a:r>
              <a:rPr lang="en-GB" sz="1800" b="1" dirty="0" err="1"/>
              <a:t>AutoRegressive</a:t>
            </a:r>
            <a:r>
              <a:rPr lang="en-GB" sz="1800" b="1" dirty="0"/>
              <a:t> Integrated Moving Average</a:t>
            </a:r>
            <a:r>
              <a:rPr lang="en-GB" sz="1800" dirty="0"/>
              <a:t>.</a:t>
            </a:r>
          </a:p>
          <a:p>
            <a:pPr marL="904875" lvl="3" indent="466725">
              <a:lnSpc>
                <a:spcPct val="150000"/>
              </a:lnSpc>
            </a:pPr>
            <a:r>
              <a:rPr lang="en-GB" sz="1800" dirty="0"/>
              <a:t>It’s an extension of ARIMA that handles both </a:t>
            </a:r>
            <a:r>
              <a:rPr lang="en-GB" sz="1800" b="1" dirty="0"/>
              <a:t>trend</a:t>
            </a:r>
            <a:r>
              <a:rPr lang="en-GB" sz="1800" dirty="0"/>
              <a:t> and </a:t>
            </a:r>
            <a:r>
              <a:rPr lang="en-GB" sz="1800" b="1" dirty="0"/>
              <a:t>seasonality</a:t>
            </a:r>
            <a:r>
              <a:rPr lang="en-GB" sz="1800" dirty="0"/>
              <a:t> in time-series data.</a:t>
            </a:r>
            <a:r>
              <a:rPr lang="en-IN" sz="1800" b="1" dirty="0"/>
              <a:t>		</a:t>
            </a:r>
            <a:endParaRPr lang="en-GB" sz="1800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B28483-E0A4-02F4-A674-30AECACEF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29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D86F-D9C9-0D53-822B-D075B012D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Hybrid SARIMA + LSTM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C0F6B-0EF9-B4CC-4E61-C166521BF582}"/>
              </a:ext>
            </a:extLst>
          </p:cNvPr>
          <p:cNvSpPr txBox="1">
            <a:spLocks/>
          </p:cNvSpPr>
          <p:nvPr/>
        </p:nvSpPr>
        <p:spPr>
          <a:xfrm>
            <a:off x="1788160" y="1552414"/>
            <a:ext cx="9635172" cy="42611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b="1" dirty="0"/>
              <a:t>Title:</a:t>
            </a:r>
            <a:r>
              <a:rPr lang="en-GB" dirty="0"/>
              <a:t> Hybrid SARIMA + LSTM Approach</a:t>
            </a:r>
            <a:endParaRPr lang="en-GB" b="1" dirty="0"/>
          </a:p>
          <a:p>
            <a:pPr lvl="1">
              <a:lnSpc>
                <a:spcPct val="150000"/>
              </a:lnSpc>
            </a:pPr>
            <a:r>
              <a:rPr lang="en-IN" sz="1800" dirty="0"/>
              <a:t>Sarima Capture the linear seasonal structure.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The Final Sarima order (1,0,1) and seasonal order (0,0,0,5)</a:t>
            </a:r>
          </a:p>
          <a:p>
            <a:pPr lvl="1">
              <a:lnSpc>
                <a:spcPct val="150000"/>
              </a:lnSpc>
            </a:pPr>
            <a:r>
              <a:rPr lang="en-GB" sz="1800" dirty="0"/>
              <a:t>Final forecast = SARIMA forecast + LSTM residual prediction.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Advantages:</a:t>
            </a:r>
          </a:p>
          <a:p>
            <a:pPr lvl="2">
              <a:lnSpc>
                <a:spcPct val="150000"/>
              </a:lnSpc>
            </a:pPr>
            <a:r>
              <a:rPr lang="en-GB" sz="1600" dirty="0"/>
              <a:t>Combines interpretability (SARIMA) with accuracy (LSTM)</a:t>
            </a:r>
          </a:p>
          <a:p>
            <a:pPr lvl="2">
              <a:lnSpc>
                <a:spcPct val="150000"/>
              </a:lnSpc>
            </a:pPr>
            <a:r>
              <a:rPr lang="en-IN" sz="1600" dirty="0"/>
              <a:t>Reduces forecasting error</a:t>
            </a:r>
          </a:p>
          <a:p>
            <a:pPr lvl="2">
              <a:lnSpc>
                <a:spcPct val="150000"/>
              </a:lnSpc>
            </a:pPr>
            <a:r>
              <a:rPr lang="en-GB" sz="1600" dirty="0"/>
              <a:t>Handles both macro (trend) and micro (volatility) components</a:t>
            </a:r>
            <a:endParaRPr lang="en-IN" sz="1600" dirty="0"/>
          </a:p>
          <a:p>
            <a:pPr marL="447675" lvl="2" indent="0">
              <a:lnSpc>
                <a:spcPct val="150000"/>
              </a:lnSpc>
              <a:buNone/>
            </a:pPr>
            <a:r>
              <a:rPr lang="en-IN" sz="1800" b="1" dirty="0"/>
              <a:t>		</a:t>
            </a:r>
            <a:endParaRPr lang="en-GB" sz="1800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080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8A23-D938-39FF-7748-35C8F6A613C7}"/>
              </a:ext>
            </a:extLst>
          </p:cNvPr>
          <p:cNvSpPr txBox="1">
            <a:spLocks/>
          </p:cNvSpPr>
          <p:nvPr/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Hybrid SARIMA + LSTM Model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5E762B-3B59-E092-362E-60C6ED10BF9C}"/>
              </a:ext>
            </a:extLst>
          </p:cNvPr>
          <p:cNvSpPr txBox="1">
            <a:spLocks/>
          </p:cNvSpPr>
          <p:nvPr/>
        </p:nvSpPr>
        <p:spPr>
          <a:xfrm>
            <a:off x="1635760" y="1298414"/>
            <a:ext cx="9635172" cy="107078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1800" dirty="0"/>
              <a:t>Comparison chart: Actual vs. SARIMA vs. Hybrid prediction.</a:t>
            </a:r>
          </a:p>
          <a:p>
            <a:pPr lvl="1"/>
            <a:r>
              <a:rPr lang="en-GB" sz="1800" dirty="0"/>
              <a:t>Training loss curve (epoch vs. loss)</a:t>
            </a:r>
            <a:endParaRPr lang="en-GB" sz="1800" b="1" dirty="0"/>
          </a:p>
          <a:p>
            <a:pPr marL="0" indent="0">
              <a:buFont typeface="Wingdings 3" charset="2"/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E3FA8-1614-AE70-31BD-E614F2BC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2074559"/>
            <a:ext cx="6754276" cy="339152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6732E-AFA6-AA44-1846-500885EA2099}"/>
              </a:ext>
            </a:extLst>
          </p:cNvPr>
          <p:cNvSpPr txBox="1">
            <a:spLocks/>
          </p:cNvSpPr>
          <p:nvPr/>
        </p:nvSpPr>
        <p:spPr>
          <a:xfrm>
            <a:off x="1278414" y="5681147"/>
            <a:ext cx="10425906" cy="107078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Key Insight:</a:t>
            </a:r>
            <a:endParaRPr lang="en-GB" dirty="0"/>
          </a:p>
          <a:p>
            <a:r>
              <a:rPr lang="en-GB" dirty="0"/>
              <a:t>The Hybrid model achieved the </a:t>
            </a:r>
            <a:r>
              <a:rPr lang="en-GB" b="1" dirty="0"/>
              <a:t>lowest RMSE [0.014]</a:t>
            </a:r>
            <a:r>
              <a:rPr lang="en-GB" dirty="0"/>
              <a:t>, outperforming standalone SARIMA or LSTM models.</a:t>
            </a:r>
          </a:p>
          <a:p>
            <a:pPr lvl="1">
              <a:lnSpc>
                <a:spcPct val="150000"/>
              </a:lnSpc>
            </a:pPr>
            <a:endParaRPr lang="en-GB" sz="1800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173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E5CE-574E-9DED-52D0-6F02AAE202F2}"/>
              </a:ext>
            </a:extLst>
          </p:cNvPr>
          <p:cNvSpPr txBox="1">
            <a:spLocks/>
          </p:cNvSpPr>
          <p:nvPr/>
        </p:nvSpPr>
        <p:spPr>
          <a:xfrm>
            <a:off x="1351280" y="237992"/>
            <a:ext cx="10336211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Hybrid SARIMA + LSTM Model Next 30 Days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DA812-340B-3D62-CABD-1A5073D8DBF1}"/>
              </a:ext>
            </a:extLst>
          </p:cNvPr>
          <p:cNvSpPr txBox="1">
            <a:spLocks/>
          </p:cNvSpPr>
          <p:nvPr/>
        </p:nvSpPr>
        <p:spPr>
          <a:xfrm>
            <a:off x="6401165" y="1250463"/>
            <a:ext cx="5767336" cy="6035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After Forecast Dataset Display Few First line 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r>
              <a:rPr lang="en-GB" dirty="0"/>
              <a:t>    	 	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AC8C80-65F9-58EA-C617-4180766F468B}"/>
              </a:ext>
            </a:extLst>
          </p:cNvPr>
          <p:cNvSpPr txBox="1">
            <a:spLocks/>
          </p:cNvSpPr>
          <p:nvPr/>
        </p:nvSpPr>
        <p:spPr>
          <a:xfrm>
            <a:off x="870270" y="1256363"/>
            <a:ext cx="5767336" cy="6035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Before Forecast Dataset Display Few Last line 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5E2231-EB7E-6911-387E-DE227473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604" y="1741915"/>
            <a:ext cx="3569231" cy="12808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3AE0A9-A14C-1B54-8D17-15C7288CD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457" y="3536807"/>
            <a:ext cx="6195886" cy="3083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76AEF-E9BD-6B55-25C1-B64174F22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249" y="1785379"/>
            <a:ext cx="3101609" cy="1234547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DA74706-B1A5-D3FB-50F1-79CAAC466FA7}"/>
              </a:ext>
            </a:extLst>
          </p:cNvPr>
          <p:cNvSpPr txBox="1">
            <a:spLocks/>
          </p:cNvSpPr>
          <p:nvPr/>
        </p:nvSpPr>
        <p:spPr>
          <a:xfrm>
            <a:off x="1019544" y="3127214"/>
            <a:ext cx="7829816" cy="6035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Historical Data → SARIMA → Residuals → LSTM → Final Forecast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23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B082D1-F060-DFD1-AD2A-D227F324519C}"/>
              </a:ext>
            </a:extLst>
          </p:cNvPr>
          <p:cNvSpPr txBox="1">
            <a:spLocks/>
          </p:cNvSpPr>
          <p:nvPr/>
        </p:nvSpPr>
        <p:spPr>
          <a:xfrm>
            <a:off x="1351280" y="237992"/>
            <a:ext cx="10336211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Deployment of Hybrid Forecast Model using </a:t>
            </a:r>
            <a:r>
              <a:rPr lang="en-GB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Streamlit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066D44-CB9E-8F73-D556-621B64B14AFA}"/>
              </a:ext>
            </a:extLst>
          </p:cNvPr>
          <p:cNvSpPr txBox="1">
            <a:spLocks/>
          </p:cNvSpPr>
          <p:nvPr/>
        </p:nvSpPr>
        <p:spPr>
          <a:xfrm>
            <a:off x="1788160" y="1552414"/>
            <a:ext cx="9635172" cy="42611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GB" sz="1800" dirty="0"/>
              <a:t>Allow real-time prediction and visualization of Apple (AAPL) stock prices.</a:t>
            </a:r>
            <a:endParaRPr lang="en-IN" sz="1800" dirty="0"/>
          </a:p>
          <a:p>
            <a:pPr lvl="1">
              <a:lnSpc>
                <a:spcPct val="150000"/>
              </a:lnSpc>
            </a:pPr>
            <a:r>
              <a:rPr lang="en-GB" sz="1800" dirty="0"/>
              <a:t>Simple interface accessible via any browser.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Content</a:t>
            </a:r>
          </a:p>
          <a:p>
            <a:pPr lvl="2">
              <a:lnSpc>
                <a:spcPct val="150000"/>
              </a:lnSpc>
            </a:pPr>
            <a:r>
              <a:rPr lang="en-IN" sz="1600" dirty="0"/>
              <a:t>Framework: </a:t>
            </a:r>
            <a:r>
              <a:rPr lang="en-IN" sz="1600" b="1" dirty="0" err="1"/>
              <a:t>Streamlit</a:t>
            </a:r>
            <a:r>
              <a:rPr lang="en-IN" sz="1600" dirty="0"/>
              <a:t> </a:t>
            </a:r>
            <a:endParaRPr lang="en-GB" sz="1600" dirty="0"/>
          </a:p>
          <a:p>
            <a:pPr lvl="2">
              <a:lnSpc>
                <a:spcPct val="150000"/>
              </a:lnSpc>
            </a:pPr>
            <a:r>
              <a:rPr lang="en-GB" sz="1600" dirty="0"/>
              <a:t>Backend: SARIMA + LSTM model (trained offline, loaded using </a:t>
            </a:r>
            <a:r>
              <a:rPr lang="en-GB" dirty="0"/>
              <a:t>.</a:t>
            </a:r>
            <a:r>
              <a:rPr lang="en-GB" dirty="0" err="1"/>
              <a:t>pkl</a:t>
            </a:r>
            <a:r>
              <a:rPr lang="en-GB" sz="1600" dirty="0"/>
              <a:t> or </a:t>
            </a:r>
            <a:r>
              <a:rPr lang="en-GB" dirty="0"/>
              <a:t>.h5</a:t>
            </a:r>
            <a:r>
              <a:rPr lang="en-GB" sz="1600" dirty="0"/>
              <a:t>)</a:t>
            </a:r>
            <a:endParaRPr lang="en-IN" sz="1600" dirty="0"/>
          </a:p>
          <a:p>
            <a:pPr marL="447675" lvl="2">
              <a:lnSpc>
                <a:spcPct val="150000"/>
              </a:lnSpc>
              <a:tabLst>
                <a:tab pos="1524000" algn="l"/>
              </a:tabLst>
            </a:pPr>
            <a:r>
              <a:rPr lang="en-IN" sz="1800" dirty="0"/>
              <a:t>Frontend features:</a:t>
            </a:r>
          </a:p>
          <a:p>
            <a:pPr marL="904875" lvl="3">
              <a:lnSpc>
                <a:spcPct val="150000"/>
              </a:lnSpc>
              <a:tabLst>
                <a:tab pos="1524000" algn="l"/>
              </a:tabLst>
            </a:pPr>
            <a:r>
              <a:rPr lang="en-GB" sz="1600" dirty="0"/>
              <a:t>“Predict” button → displays next 30-day forecast</a:t>
            </a:r>
          </a:p>
          <a:p>
            <a:pPr marL="904875" lvl="3">
              <a:lnSpc>
                <a:spcPct val="150000"/>
              </a:lnSpc>
              <a:tabLst>
                <a:tab pos="1524000" algn="l"/>
              </a:tabLst>
            </a:pPr>
            <a:r>
              <a:rPr lang="en-GB" sz="1600" dirty="0"/>
              <a:t>Charts: Actual vs Predicted, Residual trends, Confidence intervals</a:t>
            </a:r>
            <a:r>
              <a:rPr lang="en-IN" sz="1600" b="1" dirty="0"/>
              <a:t>		</a:t>
            </a:r>
            <a:endParaRPr lang="en-GB" sz="1600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965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8464-7FB1-67BD-0367-3652A0E2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Streamlit</a:t>
            </a:r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Application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F33A3-D7E2-1E38-F165-8C9FAC43D4A2}"/>
              </a:ext>
            </a:extLst>
          </p:cNvPr>
          <p:cNvSpPr txBox="1">
            <a:spLocks/>
          </p:cNvSpPr>
          <p:nvPr/>
        </p:nvSpPr>
        <p:spPr>
          <a:xfrm>
            <a:off x="1788160" y="1552414"/>
            <a:ext cx="9635172" cy="42611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IN" sz="1600" b="1" dirty="0"/>
              <a:t>	</a:t>
            </a:r>
            <a:r>
              <a:rPr lang="en-GB" b="1" dirty="0"/>
              <a:t>User Input:</a:t>
            </a:r>
            <a:r>
              <a:rPr lang="en-GB" dirty="0"/>
              <a:t> Choose start date &amp; number of days (30 days).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   Data Fetching:</a:t>
            </a:r>
            <a:r>
              <a:rPr lang="en-GB" dirty="0"/>
              <a:t> App retrieves recent Apple, NASDAQ, S&amp;P 500 data.</a:t>
            </a:r>
            <a:r>
              <a:rPr lang="en-IN" sz="1600" b="1" dirty="0"/>
              <a:t>	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   Preprocessing:</a:t>
            </a:r>
            <a:r>
              <a:rPr lang="en-GB" dirty="0"/>
              <a:t> Cleans, scales, and prepares inputs.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   </a:t>
            </a:r>
            <a:r>
              <a:rPr lang="en-IN" b="1" dirty="0"/>
              <a:t>Model Prediction:</a:t>
            </a:r>
          </a:p>
          <a:p>
            <a:pPr lvl="2">
              <a:lnSpc>
                <a:spcPct val="150000"/>
              </a:lnSpc>
            </a:pPr>
            <a:r>
              <a:rPr lang="en-IN" dirty="0"/>
              <a:t>SARIMA → trend component</a:t>
            </a:r>
          </a:p>
          <a:p>
            <a:pPr lvl="2">
              <a:lnSpc>
                <a:spcPct val="150000"/>
              </a:lnSpc>
            </a:pPr>
            <a:r>
              <a:rPr lang="en-IN" dirty="0"/>
              <a:t>LSTM → residual component</a:t>
            </a:r>
          </a:p>
          <a:p>
            <a:pPr lvl="2">
              <a:lnSpc>
                <a:spcPct val="150000"/>
              </a:lnSpc>
            </a:pPr>
            <a:r>
              <a:rPr lang="en-IN" dirty="0"/>
              <a:t>Combine → final forecast</a:t>
            </a:r>
          </a:p>
          <a:p>
            <a:pPr marL="447675" lvl="2" indent="0">
              <a:lnSpc>
                <a:spcPct val="150000"/>
              </a:lnSpc>
              <a:buNone/>
            </a:pPr>
            <a:r>
              <a:rPr lang="en-GB" b="1" dirty="0"/>
              <a:t>Output Display:</a:t>
            </a:r>
            <a:r>
              <a:rPr lang="en-GB" dirty="0"/>
              <a:t> Charts &amp; Forecast dataset appear in dashboard.</a:t>
            </a: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9582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8DD2-9EA8-5F74-1469-BBFA1F41E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0124" y="275181"/>
            <a:ext cx="8911687" cy="808450"/>
          </a:xfrm>
        </p:spPr>
        <p:txBody>
          <a:bodyPr/>
          <a:lstStyle/>
          <a:p>
            <a:pPr algn="ctr"/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</a:t>
            </a:r>
            <a:r>
              <a:rPr lang="en-GB" dirty="0"/>
              <a:t>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CA25C8-EC6E-03A1-2B7D-2C5116D84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914400"/>
            <a:ext cx="10972800" cy="470408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68AF91A-3454-283E-A1AD-DF554282C5C9}"/>
              </a:ext>
            </a:extLst>
          </p:cNvPr>
          <p:cNvSpPr txBox="1">
            <a:spLocks/>
          </p:cNvSpPr>
          <p:nvPr/>
        </p:nvSpPr>
        <p:spPr>
          <a:xfrm>
            <a:off x="1158240" y="5618480"/>
            <a:ext cx="10861040" cy="10633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dirty="0"/>
              <a:t>Conclusion: </a:t>
            </a:r>
          </a:p>
          <a:p>
            <a:r>
              <a:rPr lang="en-IN" sz="1800" dirty="0"/>
              <a:t>	</a:t>
            </a:r>
            <a:r>
              <a:rPr lang="en-GB" sz="1800" dirty="0"/>
              <a:t>The hybrid SARIMA + LSTM model provided the most accurate 30-day forecast for Apple stock prices.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927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381</TotalTime>
  <Words>703</Words>
  <Application>Microsoft Office PowerPoint</Application>
  <PresentationFormat>Widescreen</PresentationFormat>
  <Paragraphs>122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Light SemiCondensed</vt:lpstr>
      <vt:lpstr>Calibri</vt:lpstr>
      <vt:lpstr>Century Gothic</vt:lpstr>
      <vt:lpstr>Wingdings 3</vt:lpstr>
      <vt:lpstr>Wisp</vt:lpstr>
      <vt:lpstr>PowerPoint Presentation</vt:lpstr>
      <vt:lpstr>Business Objective </vt:lpstr>
      <vt:lpstr>Dataset Overview</vt:lpstr>
      <vt:lpstr>Data Preparation &amp; Cleaning</vt:lpstr>
      <vt:lpstr>Exploratory Data Analysis (EDA)</vt:lpstr>
      <vt:lpstr>Exploratory Data Analysis (EDA)</vt:lpstr>
      <vt:lpstr>  Model Selection  </vt:lpstr>
      <vt:lpstr>Hybrid SARIMA + LSTM Model</vt:lpstr>
      <vt:lpstr>PowerPoint Presentation</vt:lpstr>
      <vt:lpstr>PowerPoint Presentation</vt:lpstr>
      <vt:lpstr>PowerPoint Presentation</vt:lpstr>
      <vt:lpstr>Streamlit Application Workflow</vt:lpstr>
      <vt:lpstr>Dashboard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RISHIKESH GARUDE</dc:creator>
  <cp:lastModifiedBy>RISHIKESH GARUDE</cp:lastModifiedBy>
  <cp:revision>8</cp:revision>
  <dcterms:created xsi:type="dcterms:W3CDTF">2025-10-28T16:02:49Z</dcterms:created>
  <dcterms:modified xsi:type="dcterms:W3CDTF">2025-11-04T10:37:33Z</dcterms:modified>
</cp:coreProperties>
</file>